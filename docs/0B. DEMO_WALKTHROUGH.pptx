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31720"/>
            <a:ext cx="12192000" cy="6350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C72C"/>
                </a:solidFill>
                <a:latin typeface="Segoe UI"/>
              </a:rPr>
              <a:t>BANKING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94897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 dirty="0">
                <a:solidFill>
                  <a:srgbClr val="FFFFFF"/>
                </a:solidFill>
                <a:latin typeface="Segoe UI Semibold"/>
              </a:rPr>
              <a:t>Live demo</a:t>
            </a:r>
            <a:endParaRPr lang="en-CA" sz="3800" b="1" i="0" dirty="0">
              <a:solidFill>
                <a:srgbClr val="FFFFFF"/>
              </a:solidFill>
              <a:latin typeface="Segoe UI Semibold"/>
            </a:endParaRPr>
          </a:p>
          <a:p>
            <a:pPr algn="l">
              <a:spcAft>
                <a:spcPts val="400"/>
              </a:spcAft>
            </a:pPr>
            <a:r>
              <a:rPr sz="1700" b="0" i="0" dirty="0">
                <a:solidFill>
                  <a:srgbClr val="E8F5E8"/>
                </a:solidFill>
                <a:latin typeface="Segoe UI"/>
              </a:rPr>
              <a:t>Audit log in real time · accessibility you can't fake · the test net · end-to-end tracing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THE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Four moments, in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1024128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1040" y="1793240"/>
            <a:ext cx="512064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4F00"/>
                </a:solidFill>
                <a:latin typeface="Segoe UI"/>
              </a:rPr>
              <a:t>1 · Audit log, live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55E66"/>
                </a:solidFill>
                <a:latin typeface="Segoe UI"/>
              </a:rPr>
              <a:t>Toggle a status → the UPDATE diff appears at the top of the audit log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486400" cy="1024128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6040" y="1793240"/>
            <a:ext cx="512064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4F00"/>
                </a:solidFill>
                <a:latin typeface="Segoe UI"/>
              </a:rPr>
              <a:t>2 · A11y you can't fake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55E66"/>
                </a:solidFill>
                <a:latin typeface="Segoe UI"/>
              </a:rPr>
              <a:t>Delete → Escape → focus returns to the exact button. Keyboard + screen-reader correct.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62072"/>
            <a:ext cx="5486400" cy="1024128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040" y="2963672"/>
            <a:ext cx="512064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4F00"/>
                </a:solidFill>
                <a:latin typeface="Segoe UI"/>
              </a:rPr>
              <a:t>3 · The test net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55E66"/>
                </a:solidFill>
                <a:latin typeface="Segoe UI"/>
              </a:rPr>
              <a:t>Open the Cypress runner, pick a spec, let it walk the UI. Don't talk over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862072"/>
            <a:ext cx="5486400" cy="1024128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6040" y="2963672"/>
            <a:ext cx="512064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4F00"/>
                </a:solidFill>
                <a:latin typeface="Segoe UI"/>
              </a:rPr>
              <a:t>4 · End-to-end tracing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55E66"/>
                </a:solidFill>
                <a:latin typeface="Segoe UI"/>
              </a:rPr>
              <a:t>One X-Correlation-Id flows browser → API → log. Zero extra dependencies.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1 · AUDIT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Toggle status → the diff appears,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86400" cy="137160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27200"/>
            <a:ext cx="50292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4F00"/>
                </a:solidFill>
                <a:latin typeface="Segoe UI"/>
              </a:rPr>
              <a:t>WHAT TO SHOW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On an employee, click "Mark INACTIVE". Scroll to the audit log — a new UPDATE entry is at the top.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1371600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27200"/>
            <a:ext cx="493776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WHY IT LANDS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Shows the append-only audit working in real time, with a clean field-level diff. The banking compliance story, 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24688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Toggle status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component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383280"/>
            <a:ext cx="265176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PATCH /employees/:id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{ status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383280"/>
            <a:ext cx="283464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service.patch()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before → update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→ audit.diff()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3383280"/>
            <a:ext cx="22402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Audit entry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at top of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3904487"/>
            <a:ext cx="32004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3904487"/>
            <a:ext cx="27432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98280" y="3904487"/>
            <a:ext cx="27432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4800600"/>
            <a:ext cx="11064240" cy="13258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5640" y="4902200"/>
            <a:ext cx="10810240" cy="1122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FFC72C"/>
                </a:solidFill>
                <a:latin typeface="Consolas"/>
              </a:rPr>
              <a:t>// the audit entry the toggle produces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{ "action": "UPDATE", "entity": "Employee",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"changes": [ { "field": "status", "before": "ACTIVE", "after": "INACTIVE" } 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"actor": "admin", "correlationId": "…"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1 ·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From click to audit entry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86400" cy="228600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5640" y="1701800"/>
            <a:ext cx="5232400" cy="2082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employee-detail.component.ts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toggleStatus(emp: Employee): void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this.facade.patchStatus(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  emp.employeeId,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  emp.status === 'ACTIVE'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    ? 'INACTIVE' : 'ACTIVE');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228600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90640" y="1701800"/>
            <a:ext cx="5095240" cy="2082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employee.service.js — patch()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const before = repo.findById(id);   // snapshot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const after  = repo.update(id, patch);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AuditService.recordEmployeeUpdated(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before, after, context);          // diff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return after;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▸ The component only dispatches through the facade — it never mutates state directly.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▸ The service snapshots the row BEFORE the write, so the audit diff is exact.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08A00"/>
                </a:solidFill>
                <a:latin typeface="Segoe UI"/>
              </a:rPr>
              <a:t>▸ audit.diff() emits only changed fields — a no-op write records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2 · ACCESSIBILITY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Delete → Escape → focus returns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880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Open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capture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trigger 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3304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 dirty="0">
                <a:solidFill>
                  <a:srgbClr val="1C1C1C"/>
                </a:solidFill>
                <a:latin typeface="Segoe UI"/>
              </a:rPr>
              <a:t>Focus Cancel</a:t>
            </a:r>
          </a:p>
          <a:p>
            <a:pPr algn="ctr"/>
            <a:r>
              <a:rPr sz="950" b="0" i="0" dirty="0">
                <a:solidFill>
                  <a:srgbClr val="555E66"/>
                </a:solidFill>
                <a:latin typeface="Consolas"/>
              </a:rPr>
              <a:t>safe default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2728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Tab trap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stays inside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2152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Escape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closes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1576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Return focus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to trigger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75560" y="3136391"/>
            <a:ext cx="237744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24984" y="3136391"/>
            <a:ext cx="237744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74408" y="3136391"/>
            <a:ext cx="237744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23832" y="3136391"/>
            <a:ext cx="237744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3880" y="4032504"/>
            <a:ext cx="11064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role="dialog" · aria-modal="true" · aria-labelledby → title. Cancel is the deliberate first focus so an accidental Enter can't confirm a delete.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09443D-C42A-DEAE-0855-ED5E4EB17419}"/>
              </a:ext>
            </a:extLst>
          </p:cNvPr>
          <p:cNvSpPr txBox="1"/>
          <p:nvPr/>
        </p:nvSpPr>
        <p:spPr>
          <a:xfrm>
            <a:off x="579120" y="141708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i="0" dirty="0">
                <a:solidFill>
                  <a:srgbClr val="1C1C1C"/>
                </a:solidFill>
                <a:latin typeface="Segoe UI"/>
              </a:rPr>
              <a:t>Keyboard + screen-reader correctness you can't fake in a mockup. The full WAI-ARIA modal pattern, hand-rolled.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2 ·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The focus lifecycle (confirm-dialog.component.ts)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38404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5640" y="1701800"/>
            <a:ext cx="10810240" cy="363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on open (ngOnChanges) — snapshot the trigger BEFORE the dialog steals focus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this.previouslyFocused = document.activeElement as HTMLElement | null;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this.needsInitialFocus = true;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after render (ngAfterViewChecked) — move focus to Cancel, deliberately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if (this.needsInitialFocus &amp;&amp; this.cancelBtn) this.cancelBtn.nativeElement.focus();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Escape closes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@HostListener('document:keydown.escape') onEscape() { if (this.open) this.onCancel();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on close — return focus to exactly where the user was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if (target?.focus) setTimeout(() =&gt; target.focus(), 0);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3 · THE TEST 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Let the specs walk the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6400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070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500" b="1" i="0">
                <a:solidFill>
                  <a:srgbClr val="E8F5E8"/>
                </a:solidFill>
                <a:latin typeface="Consolas"/>
              </a:rPr>
              <a:t>npm --prefix client run e2e:open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017520" cy="658368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9936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50" b="1" i="0">
                <a:solidFill>
                  <a:srgbClr val="004F00"/>
                </a:solidFill>
                <a:latin typeface="Consolas"/>
              </a:rPr>
              <a:t>employee-flow.cy.ts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423160"/>
            <a:ext cx="7955279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2499360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00" b="0" i="0">
                <a:solidFill>
                  <a:srgbClr val="1C1C1C"/>
                </a:solidFill>
                <a:latin typeface="Segoe UI"/>
              </a:rPr>
              <a:t>List, search, create + delete, required-field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72968"/>
            <a:ext cx="3017520" cy="658368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49168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50" b="1" i="0">
                <a:solidFill>
                  <a:srgbClr val="004F00"/>
                </a:solidFill>
                <a:latin typeface="Consolas"/>
              </a:rPr>
              <a:t>account-flow.cy.ts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172968"/>
            <a:ext cx="7955279" cy="658368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F2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3249168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00" b="0" i="0">
                <a:solidFill>
                  <a:srgbClr val="1C1C1C"/>
                </a:solidFill>
                <a:latin typeface="Segoe UI"/>
              </a:rPr>
              <a:t>Account CRUD on detail page; balance validation; close + reopen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22776"/>
            <a:ext cx="3017520" cy="658368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998976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50" b="1" i="0">
                <a:solidFill>
                  <a:srgbClr val="004F00"/>
                </a:solidFill>
                <a:latin typeface="Consolas"/>
              </a:rPr>
              <a:t>audit-log-flow.cy.ts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922776"/>
            <a:ext cx="7955279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3998976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00" b="0" i="0">
                <a:solidFill>
                  <a:srgbClr val="1C1C1C"/>
                </a:solidFill>
                <a:latin typeface="Segoe UI"/>
              </a:rPr>
              <a:t>Each action lands the right entry at the top of the audit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72584"/>
            <a:ext cx="3017520" cy="658368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748784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50" b="1" i="0">
                <a:solidFill>
                  <a:srgbClr val="004F00"/>
                </a:solidFill>
                <a:latin typeface="Consolas"/>
              </a:rPr>
              <a:t>employee-filters.cy.ts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672584"/>
            <a:ext cx="7955279" cy="658368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F2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4748784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00" b="0" i="0">
                <a:solidFill>
                  <a:srgbClr val="1C1C1C"/>
                </a:solidFill>
                <a:latin typeface="Segoe UI"/>
              </a:rPr>
              <a:t>search/role/status/hasAccounts compose; reset; back to page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4 · TRACING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One id, browser → API →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86400" cy="137160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27200"/>
            <a:ext cx="50292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4F00"/>
                </a:solidFill>
                <a:latin typeface="Segoe UI"/>
              </a:rPr>
              <a:t>WHAT TO SHOW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Open DevTools → Network → trigger any request. Show X-Correlation-Id on the request, then the same id in the server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1371600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27200"/>
            <a:ext cx="493776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WHY IT LANDS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End-to-end traceability with zero extra dependencies — and it's OpenTelemetry-ready as-is.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356616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Angular interceptor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mints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X-Correlation-Id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383280"/>
            <a:ext cx="356616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Express middleware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echoes header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+ req.correlationId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383280"/>
            <a:ext cx="329184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morgan logger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prints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cid=…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3904487"/>
            <a:ext cx="32004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01000" y="3904487"/>
            <a:ext cx="320040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The response echoes the id back too, so the client error interceptor logs the same cid on failures.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4 ·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Three small pieces, one 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1874519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5640" y="1656080"/>
            <a:ext cx="5232400" cy="167131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// correlation-id.interceptor.ts (client)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const cid = crypto.randomUUID();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const cloned = req.clone({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  setHeaders: { 'X-Correlation-Id': cid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});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return next(cloned);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49240" cy="1874519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90640" y="1656080"/>
            <a:ext cx="5095240" cy="167131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// correlation-id.js (server middleware)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const incoming 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  req.header(CORRELATION_HEADER) || uuid();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res.setHeader(CORRELATION_HEADER, incoming);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req.correlationId = incoming;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next();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11064240" cy="137160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5640" y="3713480"/>
            <a:ext cx="10810240" cy="1168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// logger.js — morgan token pulls the cid off req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morgan.token('cid', (req) =&gt; req.correlationId);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module.exports = morgan(':method :url :status :response-time ms - cid=:cid');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008A00"/>
                </a:solidFill>
                <a:latin typeface="Segoe UI"/>
              </a:rPr>
              <a:t>Client mints it · server echoes + attaches to req · logger stamps every line. Same id, end to 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2000" cy="6350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Segoe UI Semibold"/>
              </a:rPr>
              <a:t>Four moments, one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291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FC72C"/>
                </a:solidFill>
                <a:latin typeface="Segoe UI"/>
              </a:rPr>
              <a:t>Each shows something a screenshot can't: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Audit log — the compliance story, working live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Dialog focus — accessibility you have to see to believe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Cypress — the safety net, proving itself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Correlation id — production-grade tracing, already wired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E8F5E8"/>
                </a:solidFill>
                <a:latin typeface="Segoe UI"/>
              </a:rPr>
              <a:t>Show the behaviour first. Open the code only when they ask "how?"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NgRx — one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011680" cy="8686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400" b="1" i="0">
                <a:solidFill>
                  <a:srgbClr val="1C1C1C"/>
                </a:solidFill>
                <a:latin typeface="Segoe UI"/>
              </a:rPr>
              <a:t>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194560"/>
            <a:ext cx="2011680" cy="8686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400" b="1" i="0">
                <a:solidFill>
                  <a:srgbClr val="1C1C1C"/>
                </a:solidFill>
                <a:latin typeface="Segoe UI"/>
              </a:rPr>
              <a:t>Effect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2194560"/>
            <a:ext cx="2011680" cy="8686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400" b="1" i="0">
                <a:solidFill>
                  <a:srgbClr val="1C1C1C"/>
                </a:solidFill>
                <a:latin typeface="Segoe UI"/>
              </a:rPr>
              <a:t>API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94560"/>
            <a:ext cx="2011680" cy="8686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400" b="1" i="0">
                <a:solidFill>
                  <a:srgbClr val="1C1C1C"/>
                </a:solidFill>
                <a:latin typeface="Segoe UI"/>
              </a:rPr>
              <a:t>Express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624328"/>
            <a:ext cx="45720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2624328"/>
            <a:ext cx="45720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0" y="2624328"/>
            <a:ext cx="45720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1783080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E66"/>
                </a:solidFill>
                <a:latin typeface="Consolas"/>
              </a:rPr>
              <a:t>dispatch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E66"/>
                </a:solidFill>
                <a:latin typeface="Consolas"/>
              </a:rP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783080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E66"/>
                </a:solidFill>
                <a:latin typeface="Consolas"/>
              </a:rPr>
              <a:t>HTTP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840480"/>
            <a:ext cx="2011680" cy="8686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400" b="1" i="0">
                <a:solidFill>
                  <a:srgbClr val="1C1C1C"/>
                </a:solidFill>
                <a:latin typeface="Segoe UI"/>
              </a:rPr>
              <a:t>Reducer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3840480"/>
            <a:ext cx="2011680" cy="8686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400" b="1" i="0">
                <a:solidFill>
                  <a:srgbClr val="1C1C1C"/>
                </a:solidFill>
                <a:latin typeface="Segoe UI"/>
              </a:rPr>
              <a:t>Store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3063240"/>
            <a:ext cx="0" cy="77724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06240" y="320040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E66"/>
                </a:solidFill>
                <a:latin typeface="Consolas"/>
              </a:rPr>
              <a:t>success/failure action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4270248"/>
            <a:ext cx="457200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840480"/>
            <a:ext cx="2011680" cy="8686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Facade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selector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651760" y="4270248"/>
            <a:ext cx="292608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45920" y="3063240"/>
            <a:ext cx="0" cy="77724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89204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Component dispatches; only the effect touches HTTP; only the reducer writes the store; the facade is the read/write interface.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1144</Words>
  <Application>Microsoft Office PowerPoint</Application>
  <PresentationFormat>Widescreen</PresentationFormat>
  <Paragraphs>164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 Garg</cp:lastModifiedBy>
  <cp:revision>2</cp:revision>
  <dcterms:created xsi:type="dcterms:W3CDTF">2013-01-27T09:14:16Z</dcterms:created>
  <dcterms:modified xsi:type="dcterms:W3CDTF">2026-06-02T20:48:27Z</dcterms:modified>
  <cp:category/>
</cp:coreProperties>
</file>
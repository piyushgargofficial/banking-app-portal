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78" r:id="rId6"/>
    <p:sldId id="279" r:id="rId7"/>
    <p:sldId id="280" r:id="rId8"/>
    <p:sldId id="263" r:id="rId9"/>
    <p:sldId id="281" r:id="rId10"/>
    <p:sldId id="259" r:id="rId11"/>
    <p:sldId id="261" r:id="rId12"/>
    <p:sldId id="260" r:id="rId13"/>
    <p:sldId id="262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31720"/>
            <a:ext cx="12192000" cy="635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C72C"/>
                </a:solidFill>
                <a:latin typeface="Segoe UI"/>
              </a:rPr>
              <a:t>BANKING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 dirty="0">
                <a:solidFill>
                  <a:srgbClr val="FFFFFF"/>
                </a:solidFill>
                <a:latin typeface="Segoe UI Semibold"/>
              </a:rPr>
              <a:t>Managing employees &amp; their linked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FFFFFF"/>
                </a:solidFill>
                <a:latin typeface="Segoe UI"/>
              </a:rPr>
              <a:t>Interview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What we'll walk 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22570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The </a:t>
            </a:r>
            <a:r>
              <a:rPr lang="en-CA" sz="1800" b="1" i="0" dirty="0">
                <a:solidFill>
                  <a:srgbClr val="1C1C1C"/>
                </a:solidFill>
                <a:latin typeface="Segoe UI"/>
              </a:rPr>
              <a:t>Pitch</a:t>
            </a:r>
            <a:endParaRPr sz="1800" b="1" i="0" dirty="0">
              <a:solidFill>
                <a:srgbClr val="1C1C1C"/>
              </a:solidFill>
              <a:latin typeface="Segoe UI"/>
            </a:endParaRP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</a:t>
            </a:r>
            <a:r>
              <a:rPr lang="en-US" sz="1800" b="1" i="0" dirty="0">
                <a:solidFill>
                  <a:srgbClr val="1C1C1C"/>
                </a:solidFill>
                <a:latin typeface="Segoe UI"/>
              </a:rPr>
              <a:t>Demo</a:t>
            </a:r>
          </a:p>
          <a:p>
            <a:pPr>
              <a:spcAft>
                <a:spcPts val="1600"/>
              </a:spcAft>
            </a:pPr>
            <a:r>
              <a:rPr lang="en-US" b="1" dirty="0">
                <a:solidFill>
                  <a:srgbClr val="1C1C1C"/>
                </a:solidFill>
                <a:latin typeface="Segoe UI"/>
              </a:rPr>
              <a:t>▸ System architecture</a:t>
            </a:r>
          </a:p>
          <a:p>
            <a:pPr>
              <a:spcAft>
                <a:spcPts val="1600"/>
              </a:spcAft>
            </a:pPr>
            <a:r>
              <a:rPr lang="en-CA" b="1" dirty="0">
                <a:solidFill>
                  <a:srgbClr val="1C1C1C"/>
                </a:solidFill>
                <a:latin typeface="Segoe UI"/>
              </a:rPr>
              <a:t>▸ Three Key Decisions</a:t>
            </a:r>
            <a:endParaRPr sz="1800" b="1" i="0" dirty="0">
              <a:solidFill>
                <a:srgbClr val="1C1C1C"/>
              </a:solidFill>
              <a:latin typeface="Segoe UI"/>
            </a:endParaRP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Backend layering (MVC + repo + service)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Key decisions &amp; trade-offs</a:t>
            </a: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Code that shows the craft</a:t>
            </a: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Quantified impact (honest numbers)</a:t>
            </a: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What didn't work / what's missing</a:t>
            </a:r>
          </a:p>
          <a:p>
            <a:pPr>
              <a:spcAft>
                <a:spcPts val="1600"/>
              </a:spcAft>
            </a:pPr>
            <a:r>
              <a:rPr sz="1800" b="1" i="0" dirty="0">
                <a:solidFill>
                  <a:srgbClr val="1C1C1C"/>
                </a:solidFill>
                <a:latin typeface="Segoe UI"/>
              </a:rPr>
              <a:t>▸ Scaling 10x  · 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1 · AUDIT 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Toggle status → the diff appears,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4688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Toggle status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component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6517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PATCH /employees/:id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{ status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283464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service.patch()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before → update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→ audit.diff()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057400"/>
            <a:ext cx="22402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Audit entry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at top of log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578607"/>
            <a:ext cx="32004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89320" y="2578607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2578607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8640" y="3474720"/>
            <a:ext cx="11064240" cy="13258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5640" y="3576320"/>
            <a:ext cx="10810240" cy="1122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FFC72C"/>
                </a:solidFill>
                <a:latin typeface="Consolas"/>
              </a:rPr>
              <a:t>// the audit entry the toggle produces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{ "action": "UPDATE", "entity": "Employee",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"changes": [ { "field": "status", "before": "ACTIVE", "after": "INACTIVE" } ],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"actor": "admin", "correlationId": "…"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008A00"/>
                </a:solidFill>
                <a:latin typeface="Segoe UI"/>
              </a:rPr>
              <a:t>MOMENT </a:t>
            </a:r>
            <a:r>
              <a:rPr lang="en-CA" sz="1200" b="1" dirty="0">
                <a:solidFill>
                  <a:srgbClr val="008A00"/>
                </a:solidFill>
                <a:latin typeface="Segoe UI"/>
              </a:rPr>
              <a:t>1</a:t>
            </a:r>
            <a:r>
              <a:rPr sz="1200" b="1" i="0" dirty="0">
                <a:solidFill>
                  <a:srgbClr val="008A00"/>
                </a:solidFill>
                <a:latin typeface="Segoe UI"/>
              </a:rPr>
              <a:t>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From click to audit entry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86400" cy="22860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701800"/>
            <a:ext cx="5232400" cy="2082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// employee-</a:t>
            </a:r>
            <a:r>
              <a:rPr sz="1250" b="0" i="0" dirty="0" err="1">
                <a:solidFill>
                  <a:srgbClr val="E8F5E8"/>
                </a:solidFill>
                <a:latin typeface="Consolas"/>
              </a:rPr>
              <a:t>detail.component.ts</a:t>
            </a:r>
            <a:endParaRPr sz="1250" b="0" i="0" dirty="0">
              <a:solidFill>
                <a:srgbClr val="E8F5E8"/>
              </a:solidFill>
              <a:latin typeface="Consolas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 err="1">
                <a:solidFill>
                  <a:srgbClr val="E8F5E8"/>
                </a:solidFill>
                <a:latin typeface="Consolas"/>
              </a:rPr>
              <a:t>toggleStatus</a:t>
            </a:r>
            <a:r>
              <a:rPr sz="1250" b="0" i="0" dirty="0">
                <a:solidFill>
                  <a:srgbClr val="E8F5E8"/>
                </a:solidFill>
                <a:latin typeface="Consolas"/>
              </a:rPr>
              <a:t>(emp: Employee): void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  </a:t>
            </a:r>
            <a:r>
              <a:rPr sz="1250" b="0" i="0" dirty="0" err="1">
                <a:solidFill>
                  <a:srgbClr val="E8F5E8"/>
                </a:solidFill>
                <a:latin typeface="Consolas"/>
              </a:rPr>
              <a:t>this.facade.patchStatus</a:t>
            </a:r>
            <a:r>
              <a:rPr sz="1250" b="0" i="0" dirty="0">
                <a:solidFill>
                  <a:srgbClr val="E8F5E8"/>
                </a:solidFill>
                <a:latin typeface="Consolas"/>
              </a:rPr>
              <a:t>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    </a:t>
            </a:r>
            <a:r>
              <a:rPr sz="1250" b="0" i="0" dirty="0" err="1">
                <a:solidFill>
                  <a:srgbClr val="E8F5E8"/>
                </a:solidFill>
                <a:latin typeface="Consolas"/>
              </a:rPr>
              <a:t>emp.employeeId</a:t>
            </a:r>
            <a:r>
              <a:rPr sz="1250" b="0" i="0" dirty="0">
                <a:solidFill>
                  <a:srgbClr val="E8F5E8"/>
                </a:solidFill>
                <a:latin typeface="Consolas"/>
              </a:rPr>
              <a:t>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    </a:t>
            </a:r>
            <a:r>
              <a:rPr sz="1250" b="0" i="0" dirty="0" err="1">
                <a:solidFill>
                  <a:srgbClr val="E8F5E8"/>
                </a:solidFill>
                <a:latin typeface="Consolas"/>
              </a:rPr>
              <a:t>emp.status</a:t>
            </a:r>
            <a:r>
              <a:rPr sz="1250" b="0" i="0" dirty="0">
                <a:solidFill>
                  <a:srgbClr val="E8F5E8"/>
                </a:solidFill>
                <a:latin typeface="Consolas"/>
              </a:rPr>
              <a:t> === 'ACTIVE'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      ? 'INACTIVE' : 'ACTIVE');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 dirty="0">
                <a:solidFill>
                  <a:srgbClr val="E8F5E8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49240" cy="22860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0640" y="1701800"/>
            <a:ext cx="5095240" cy="2082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employee.service.js — patch()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const before = repo.findById(id);   // snapshot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const after  = repo.update(id, patch);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AuditService.recordEmployeeUpdated(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before, after, context);          // diff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return after;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The component only dispatches through the facade — it never mutates state directly.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The service snapshots the row BEFORE the write, so the audit diff is exact.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08A00"/>
                </a:solidFill>
                <a:latin typeface="Segoe UI"/>
              </a:rPr>
              <a:t>▸ audit.diff() emits only changed fields — a no-op write records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2 · ACCESSIBILITY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Delete → Escape → focus returns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3880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Open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capture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trigger 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3304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 dirty="0">
                <a:solidFill>
                  <a:srgbClr val="1C1C1C"/>
                </a:solidFill>
                <a:latin typeface="Segoe UI"/>
              </a:rPr>
              <a:t>Focus Cancel</a:t>
            </a:r>
          </a:p>
          <a:p>
            <a:pPr algn="ctr"/>
            <a:r>
              <a:rPr sz="950" b="0" i="0" dirty="0">
                <a:solidFill>
                  <a:srgbClr val="555E66"/>
                </a:solidFill>
                <a:latin typeface="Consolas"/>
              </a:rPr>
              <a:t>safe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2728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Tab trap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stays inside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2152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Escape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closes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1576" y="2615184"/>
            <a:ext cx="201168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250" b="1" i="0">
                <a:solidFill>
                  <a:srgbClr val="1C1C1C"/>
                </a:solidFill>
                <a:latin typeface="Segoe UI"/>
              </a:rPr>
              <a:t>Return focus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to trigger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75560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24984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74408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323832" y="3136391"/>
            <a:ext cx="237744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3880" y="4032504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role="dialog" · aria-modal="true" · aria-labelledby → title. Cancel is the deliberate first focus so an accidental Enter can't confirm a delete.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09443D-C42A-DEAE-0855-ED5E4EB17419}"/>
              </a:ext>
            </a:extLst>
          </p:cNvPr>
          <p:cNvSpPr txBox="1"/>
          <p:nvPr/>
        </p:nvSpPr>
        <p:spPr>
          <a:xfrm>
            <a:off x="579120" y="1417087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800" b="0" i="0" dirty="0">
                <a:solidFill>
                  <a:srgbClr val="1C1C1C"/>
                </a:solidFill>
                <a:latin typeface="Segoe UI"/>
              </a:rPr>
              <a:t>Keyboard + screen-reader correctness you can't fake in a mockup. The full WAI-ARIA modal pattern, hand-rolled.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2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The focus lifecycle (confirm-dialog.component.ts)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38404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701800"/>
            <a:ext cx="10810240" cy="363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on open (ngOnChanges) — snapshot the trigger BEFORE the dialog steals focus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this.previouslyFocused = document.activeElement as HTMLElement | null;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this.needsInitialFocus = true;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after render (ngAfterViewChecked) — move focus to Cancel, deliberately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if (this.needsInitialFocus &amp;&amp; this.cancelBtn) this.cancelBtn.nativeElement.focus();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Escape closes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@HostListener('document:keydown.escape') onEscape() { if (this.open) this.onCancel();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// on close — return focus to exactly where the user was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if (target?.focus) setTimeout(() =&gt; target.focus(), 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3 · THE TEST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Let the specs walk the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6400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73352"/>
            <a:ext cx="1060704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500" b="1" i="0">
                <a:solidFill>
                  <a:srgbClr val="E8F5E8"/>
                </a:solidFill>
                <a:latin typeface="Consolas"/>
              </a:rPr>
              <a:t>npm --prefix client run e2e:open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49936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employee-flow.cy.ts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423160"/>
            <a:ext cx="7955279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0" y="2499360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List, search, create + delete, required-field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49168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account-flow.cy.ts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172968"/>
            <a:ext cx="7955279" cy="65836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0" y="3249168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Account CRUD on detail page; balance validation; close + reopen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22776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98976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audit-log-flow.cy.ts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922776"/>
            <a:ext cx="7955279" cy="6583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3998976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Each action lands the right entry at the top of the audit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72584"/>
            <a:ext cx="3017520" cy="658368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748784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50" b="1" i="0">
                <a:solidFill>
                  <a:srgbClr val="004F00"/>
                </a:solidFill>
                <a:latin typeface="Consolas"/>
              </a:rPr>
              <a:t>employee-filters.cy.ts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672584"/>
            <a:ext cx="7955279" cy="658368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F2F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0" y="4748784"/>
            <a:ext cx="768096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200" b="0" i="0">
                <a:solidFill>
                  <a:srgbClr val="1C1C1C"/>
                </a:solidFill>
                <a:latin typeface="Segoe UI"/>
              </a:rPr>
              <a:t>search/role/status/hasAccounts compose; reset; back to page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4 · TRACING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One id, browser → API →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98040"/>
            <a:ext cx="35661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Angular interceptor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mints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X-Correlation-Id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98040"/>
            <a:ext cx="356616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Express middleware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echoes header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+ req.correlationId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098040"/>
            <a:ext cx="3291840" cy="105156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rIns="635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morgan logger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prints</a:t>
            </a:r>
          </a:p>
          <a:p>
            <a:pPr algn="ctr"/>
            <a:r>
              <a:rPr sz="950" b="0" i="0">
                <a:solidFill>
                  <a:srgbClr val="555E66"/>
                </a:solidFill>
                <a:latin typeface="Consolas"/>
              </a:rPr>
              <a:t>cid=…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619247"/>
            <a:ext cx="32004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01000" y="2619247"/>
            <a:ext cx="320040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515360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The response echoes the id back too, so the client error interceptor logs the same cid on failures.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MOMENT 4 ·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04F00"/>
                </a:solidFill>
                <a:latin typeface="Segoe UI Semibold"/>
              </a:rPr>
              <a:t>Three small pieces, one 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874519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5640" y="1656080"/>
            <a:ext cx="5232400" cy="167131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// correlation-id.interceptor.ts (client)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cid = crypto.randomUUID();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cloned = req.clone({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  setHeaders: { 'X-Correlation-Id': cid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return next(cloned);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49240" cy="1874519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90640" y="1656080"/>
            <a:ext cx="5095240" cy="167131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// correlation-id.js (server middleware)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const incoming 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  req.header(CORRELATION_HEADER) || uuid();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res.setHeader(CORRELATION_HEADER, incoming);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req.correlationId = incoming;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E8F5E8"/>
                </a:solidFill>
                <a:latin typeface="Consolas"/>
              </a:rPr>
              <a:t>next();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11064240" cy="13716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640" y="3713480"/>
            <a:ext cx="10810240" cy="1168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// logger.js — morgan token pulls the cid off req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morgan.token('cid', (req) =&gt; req.correlationId);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module.exports = morgan(':method :url :status :response-time ms - cid=:cid');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008A00"/>
                </a:solidFill>
                <a:latin typeface="Segoe UI"/>
              </a:rPr>
              <a:t>Client mints it · server echoes + attaches to req · logger stamps every line. Same id, end to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>
                <a:solidFill>
                  <a:srgbClr val="555E66"/>
                </a:solidFill>
                <a:latin typeface="Segoe UI"/>
              </a:rPr>
              <a:t>Banking Admin Portal  ·  Live demo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dirty="0">
                <a:solidFill>
                  <a:srgbClr val="008A00"/>
                </a:solidFill>
                <a:latin typeface="Segoe UI"/>
              </a:rPr>
              <a:t>THE 2-MINUTE PITCH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Context · Problem ·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1143000"/>
          </a:xfrm>
          <a:prstGeom prst="round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35832"/>
            <a:ext cx="10424160" cy="52065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 dirty="0">
                <a:solidFill>
                  <a:srgbClr val="008A00"/>
                </a:solidFill>
                <a:latin typeface="Segoe UI"/>
              </a:rPr>
              <a:t>CONTEXT</a:t>
            </a:r>
          </a:p>
          <a:p>
            <a:pPr algn="l">
              <a:spcAft>
                <a:spcPts val="600"/>
              </a:spcAft>
            </a:pPr>
            <a:r>
              <a:rPr sz="1500" b="0" i="0" dirty="0">
                <a:solidFill>
                  <a:srgbClr val="1C1C1C"/>
                </a:solidFill>
                <a:latin typeface="Segoe UI"/>
              </a:rPr>
              <a:t>A take-home </a:t>
            </a:r>
            <a:r>
              <a:rPr lang="en-CA" sz="1500" b="0" i="0" dirty="0">
                <a:solidFill>
                  <a:srgbClr val="1C1C1C"/>
                </a:solidFill>
                <a:latin typeface="Segoe UI"/>
              </a:rPr>
              <a:t>project </a:t>
            </a:r>
            <a:r>
              <a:rPr sz="1500" b="0" i="0" dirty="0">
                <a:solidFill>
                  <a:srgbClr val="1C1C1C"/>
                </a:solidFill>
                <a:latin typeface="Segoe UI"/>
              </a:rPr>
              <a:t>— an internal portal to manage employees and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10972800" cy="1143000"/>
          </a:xfrm>
          <a:prstGeom prst="round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64840"/>
            <a:ext cx="1042416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8A00"/>
                </a:solidFill>
                <a:latin typeface="Segoe UI"/>
              </a:rPr>
              <a:t>PROBLEM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The brief was generic. The real question: build it like it's going to production at a bank, not like a spec speed-run.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89120"/>
            <a:ext cx="10972800" cy="1143000"/>
          </a:xfrm>
          <a:prstGeom prst="round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90720"/>
            <a:ext cx="1042416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8A00"/>
                </a:solidFill>
                <a:latin typeface="Segoe UI"/>
              </a:rPr>
              <a:t>ROLE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Sole developer — scaffolding through ongoing refactors, across frontend, backend mock, tests, docs and accessibility.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System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417320"/>
            <a:ext cx="2468880" cy="50292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555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Browser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972800" cy="1783080"/>
          </a:xfrm>
          <a:prstGeom prst="round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ANGULAR 17  ·  :4200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2286000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Components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templates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OnPush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606040"/>
            <a:ext cx="2286000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Facade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Employee/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Account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606040"/>
            <a:ext cx="2286000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NgRx store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actions/reducer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selectors/effects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2606040"/>
            <a:ext cx="2743200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300" b="1" i="0">
                <a:solidFill>
                  <a:srgbClr val="1C1C1C"/>
                </a:solidFill>
                <a:latin typeface="Segoe UI"/>
              </a:rPr>
              <a:t>Interceptors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correlation-id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error → ApiError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154680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0" y="3154680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75320" y="3154680"/>
            <a:ext cx="274320" cy="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3931920"/>
            <a:ext cx="0" cy="411480"/>
          </a:xfrm>
          <a:prstGeom prst="bentConnector3">
            <a:avLst/>
          </a:prstGeom>
          <a:ln w="25400">
            <a:solidFill>
              <a:srgbClr val="008A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3950208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5E66"/>
                </a:solidFill>
                <a:latin typeface="Consolas"/>
              </a:rPr>
              <a:t>proxy /api/*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972800" cy="1783080"/>
          </a:xfrm>
          <a:prstGeom prst="roundRect">
            <a:avLst/>
          </a:prstGeom>
          <a:solidFill>
            <a:srgbClr val="F2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EXPRESS MOCK API  ·  :3000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846320"/>
            <a:ext cx="1993392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i="0">
                <a:solidFill>
                  <a:srgbClr val="1C1C1C"/>
                </a:solidFill>
                <a:latin typeface="Segoe UI"/>
              </a:rPr>
              <a:t>Routes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4846320"/>
            <a:ext cx="1993392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i="0">
                <a:solidFill>
                  <a:srgbClr val="1C1C1C"/>
                </a:solidFill>
                <a:latin typeface="Segoe UI"/>
              </a:rPr>
              <a:t>Controllers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HTTP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4846320"/>
            <a:ext cx="1993392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i="0">
                <a:solidFill>
                  <a:srgbClr val="1C1C1C"/>
                </a:solidFill>
                <a:latin typeface="Segoe UI"/>
              </a:rPr>
              <a:t>Services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rules +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846320"/>
            <a:ext cx="1993392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i="0">
                <a:solidFill>
                  <a:srgbClr val="1C1C1C"/>
                </a:solidFill>
                <a:latin typeface="Segoe UI"/>
              </a:rPr>
              <a:t>Repositories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pure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4846320"/>
            <a:ext cx="1993392" cy="1097280"/>
          </a:xfrm>
          <a:prstGeom prst="roundRect">
            <a:avLst/>
          </a:prstGeom>
          <a:solidFill>
            <a:srgbClr val="E8F5E8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/>
          <a:p>
            <a:pPr algn="ctr"/>
            <a:r>
              <a:rPr sz="1200" b="1" i="0">
                <a:solidFill>
                  <a:srgbClr val="1C1C1C"/>
                </a:solidFill>
                <a:latin typeface="Segoe UI"/>
              </a:rPr>
              <a:t>Store</a:t>
            </a:r>
          </a:p>
          <a:p>
            <a:pPr algn="ctr"/>
            <a:r>
              <a:rPr sz="1000" b="0" i="0">
                <a:solidFill>
                  <a:srgbClr val="555E66"/>
                </a:solidFill>
                <a:latin typeface="Consolas"/>
              </a:rPr>
              <a:t>in-memory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62072" y="5394960"/>
            <a:ext cx="155448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010912" y="5394960"/>
            <a:ext cx="155448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9752" y="5394960"/>
            <a:ext cx="155448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08592" y="5394960"/>
            <a:ext cx="155448" cy="0"/>
          </a:xfrm>
          <a:prstGeom prst="bentConnector3">
            <a:avLst/>
          </a:prstGeom>
          <a:ln w="25400">
            <a:solidFill>
              <a:srgbClr val="B4530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THE PITCH, CONTINUED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Three key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11880" cy="338328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7880" y="1920240"/>
            <a:ext cx="3291840" cy="3108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08A00"/>
                </a:solidFill>
                <a:latin typeface="Segoe UI Semibold"/>
              </a:rPr>
              <a:t>1 · Layered backend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Strict MVC + repository +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service — not a single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server.js. Business rules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stay testable in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737360"/>
            <a:ext cx="3611880" cy="338328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66919" y="1920240"/>
            <a:ext cx="3291840" cy="3108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08A00"/>
                </a:solidFill>
                <a:latin typeface="Segoe UI Semibold"/>
              </a:rPr>
              <a:t>2 · NgRx + Signals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NgRx stays the source of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truth; Signals appear at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three seams (toSignal,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signal, effect).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8" y="1737360"/>
            <a:ext cx="3611880" cy="3383280"/>
          </a:xfrm>
          <a:prstGeom prst="roundRect">
            <a:avLst/>
          </a:prstGeom>
          <a:solidFill>
            <a:srgbClr val="F2F4F5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15958" y="1920240"/>
            <a:ext cx="3291840" cy="3108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08A00"/>
                </a:solidFill>
                <a:latin typeface="Segoe UI Semibold"/>
              </a:rPr>
              <a:t>3 · Append-only audit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Per-employee audit log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with field-level diffs.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Banks audit everything —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the obvious extension.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Impact: every required feature + all 3 bonus items · backend Jest on the two highest-risk services · 4 Cypress flows · responsive to 4K · WCAG 2.1 AA on interactive surfaces.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STATE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NgRx + Signals — the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NgRx stays the single source of truth. Signals appear at three specific seams — not sprinkled everywhere.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Seam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Where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Why it's the right tool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toSignal()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list / detail components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Read facade state synchronously in templates; store unchanged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signal()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UI flags (showForm, confirmOpen)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Never shared/persisted — an NgRx slice would be ceremony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computed()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page summary, form heading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Memoised derivations of multiple signals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effect()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document.title sync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C1C1C"/>
                          </a:solidFill>
                          <a:latin typeface="Segoe UI"/>
                        </a:rPr>
                        <a:t>State-driven DOM side effect, auto-tracked + auto-disposed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008A00"/>
                </a:solidFill>
                <a:latin typeface="Segoe UI"/>
              </a:rPr>
              <a:t>"I didn't replace NgRx with Signals — I bolted them on at the leaf."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Layered MVC + repository +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86400" cy="42976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5232400" cy="409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server/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routes/        URL -&gt; controller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controllers/   HTTP shape only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services/      business rules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             + audit + cascade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repositories/  pure CRUD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data/store.js  in-memory store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validators/    errors[] arrays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middleware/    cid, logger, errors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utils/         problem-details,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             sanitize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212080" cy="4114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008A00"/>
                </a:solidFill>
                <a:latin typeface="Segoe UI"/>
              </a:rPr>
              <a:t>▸ One-way dependency:</a:t>
            </a:r>
          </a:p>
          <a:p>
            <a:pPr lvl="1">
              <a:spcAft>
                <a:spcPts val="1200"/>
              </a:spcAft>
            </a:pPr>
            <a:r>
              <a:rPr sz="1300" b="0" i="0">
                <a:solidFill>
                  <a:srgbClr val="006B00"/>
                </a:solidFill>
                <a:latin typeface="Segoe UI"/>
              </a:rPr>
              <a:t>– controller → service → repository → store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Store is swappable — only repositories change when in-memory becomes Postgres.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Business rules unit-testable against a stub repository, no HTTP server needed.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555E66"/>
                </a:solidFill>
                <a:latin typeface="Segoe UI"/>
              </a:rPr>
              <a:t>▸ Smell to watch: a controller importing a repository, or a service touching the store.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Request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42976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10718800" cy="409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HTTP request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[middleware]   correlation-id  -&gt;  logger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[routes]       /api/employees/:id   -&gt;   controller.getById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[controller]   sanitize  -&gt;  validate  -&gt;  uniqueness check  -&gt;  service call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[service]      apply business rules (defaults, timestamps, cascades, audit)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[repository]   reads / mutates  data/store.js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v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HTTP response  (or  [error-handler] -&gt; RFC 7807 problem-details JSON)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TRADE-OFFS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Why this, over the alternatives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Chosen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Rejected — and why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State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NgRx + Signals at the leaf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NgRx-only (template ceremony); Signals-only (lose DevTools)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MVC + repo + service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single server.js — no home for audit-diff logic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Page size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clamp at 100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400 reject — breaks a caller who didn't know the limit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soft-close accts; hard+cascade employee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hard-delete all — destroys audit history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hand-rolled functions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zod/joi — extra dep; rules simple enough here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008A00"/>
                </a:solidFill>
                <a:latin typeface="Segoe UI"/>
              </a:rPr>
              <a:t>Every choice has the rejected alternative named — that's the senior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CODE · BACKEND HERO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Cascade delete + audit (employee.service.js)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6576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45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remove(employeeId, context)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const employee = EmployeeRepository.findById(employeeId);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if (!employee) return false;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// Snapshot OPEN accounts about to be cascade-closed.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const toClose = AccountRepository.findByEmployeeId(employeeId)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.filter((a) =&gt; a.status === 'OPEN').map((a) =&gt; ({ ...a }));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EmployeeRepository.deleteById(employeeId);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AccountRepository.updateAllByEmployeeId(employeeId, { status: 'CLOSED', updatedAt: nowIso()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AuditService.recordEmployeeDeleted(employee, context);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for (const acc of toClose) AuditService.recordAccountCascadeClosed(acc, context);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return true;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 dirty="0">
                <a:solidFill>
                  <a:srgbClr val="555E66"/>
                </a:solidFill>
                <a:latin typeface="Segoe UI"/>
              </a:rPr>
              <a:t>One cohesive, transaction-shaped function orchestrating two repositories + the audit service. Has its own Jest suite — proves the cascade without booting Express.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CODE · FRONTEND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Signals bridged onto NgRx (employee-detail)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29184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08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protected readonly employee 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toSignal(this.facade.selected$, { initialValue: null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constructor()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// state-driven DOM side effect: keep the tab title in sync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effect(() =&gt; {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const emp = this.employee();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document.title = emp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  ? `${emp.firstName} ${emp.lastName} - ${DEFAULT_TITLE}`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    : DEFAULT_TITLE;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});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toSignal() bridges a facade observable to the template; effect() handles a DOM side effect, auto-tracking employee() and tearing itself down via DestroyRef. NgRx stays the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CODE · FORMS 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Async unique-email validator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72800" cy="338328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01800"/>
            <a:ext cx="10718800" cy="318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return of(value).pipe(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debounceTime(150),        // don't hit the API on every keystroke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distinctUntilChanged(),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switchMap((email) =&gt; api.isEmailAvailable(email, excludeIdProvider()).pipe(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map((available) =&gt; (available ? null : { emailTaken: true })),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  catchError(() =&gt; of(null))  // network error -&gt; don't block; server re-checks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)),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  first()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E8F5E8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A validator factory taking the API service + an excludeIdProvider (so an edit form's own email isn't a clash). Debounced, deduped, fails-open on network error, fires on blur.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CODE · HTTP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Two functional interceptors, ordered on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72800" cy="137160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7080" y="1747520"/>
            <a:ext cx="10718800" cy="1168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provideHttpClient(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withFetch(),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  withInterceptors([correlationIdInterceptor, errorInterceptor])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E8F5E8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2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correlationIdInterceptor — attaches X-Correlation-Id per request (crypto.randomUUID()).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C1C1C"/>
                </a:solidFill>
                <a:latin typeface="Segoe UI"/>
              </a:rPr>
              <a:t>▸ errorInterceptor — normalises HttpErrorResponse into ApiError, preserves the cid, logs it.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08A00"/>
                </a:solidFill>
                <a:latin typeface="Segoe UI"/>
              </a:rPr>
              <a:t>▸ Order matters: cid runs first so the error handler can read the id it attached.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555E66"/>
                </a:solidFill>
                <a:latin typeface="Segoe UI"/>
              </a:rPr>
              <a:t>▸ Functional interceptors — the modern, tree-shakeable style, not class-based providers.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DOMAIN FEATURE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Append-only audit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486400" cy="161069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 dirty="0">
                <a:solidFill>
                  <a:srgbClr val="1C1C1C"/>
                </a:solidFill>
                <a:latin typeface="Segoe UI"/>
              </a:rPr>
              <a:t>▸ Every meaningful write is recorded as an immutable entry.</a:t>
            </a:r>
          </a:p>
          <a:p>
            <a:pPr>
              <a:spcAft>
                <a:spcPts val="1000"/>
              </a:spcAft>
            </a:pPr>
            <a:r>
              <a:rPr sz="1400" b="1" i="0" dirty="0">
                <a:solidFill>
                  <a:srgbClr val="008A00"/>
                </a:solidFill>
                <a:latin typeface="Segoe UI"/>
              </a:rPr>
              <a:t>▸ Per-action shape:</a:t>
            </a:r>
          </a:p>
          <a:p>
            <a:pPr lvl="1">
              <a:spcAft>
                <a:spcPts val="1000"/>
              </a:spcAft>
            </a:pPr>
            <a:r>
              <a:rPr sz="1300" b="0" i="0" dirty="0">
                <a:solidFill>
                  <a:srgbClr val="1C1C1C"/>
                </a:solidFill>
                <a:latin typeface="Segoe UI"/>
              </a:rPr>
              <a:t>– CREATE / DELETE — full snapshot</a:t>
            </a:r>
          </a:p>
          <a:p>
            <a:pPr lvl="1">
              <a:spcAft>
                <a:spcPts val="1000"/>
              </a:spcAft>
            </a:pPr>
            <a:r>
              <a:rPr sz="1300" b="0" i="0" dirty="0">
                <a:solidFill>
                  <a:srgbClr val="1C1C1C"/>
                </a:solidFill>
                <a:latin typeface="Segoe UI"/>
              </a:rPr>
              <a:t>– UPDATE — field-level { before, after } diff</a:t>
            </a:r>
          </a:p>
          <a:p>
            <a:pPr lvl="1">
              <a:spcAft>
                <a:spcPts val="1000"/>
              </a:spcAft>
            </a:pPr>
            <a:r>
              <a:rPr sz="1300" b="0" i="0" dirty="0">
                <a:solidFill>
                  <a:srgbClr val="1C1C1C"/>
                </a:solidFill>
                <a:latin typeface="Segoe UI"/>
              </a:rPr>
              <a:t>– CLOSE / REOPEN / CASCADE_CLOSE — narrative</a:t>
            </a:r>
            <a:r>
              <a:rPr sz="1400" b="0" i="0" dirty="0">
                <a:solidFill>
                  <a:srgbClr val="555E66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212080" cy="3931920"/>
          </a:xfrm>
          <a:prstGeom prst="roundRect">
            <a:avLst/>
          </a:prstGeom>
          <a:solidFill>
            <a:srgbClr val="062A14"/>
          </a:solidFill>
          <a:ln w="15875">
            <a:solidFill>
              <a:srgbClr val="006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27800" y="1793240"/>
            <a:ext cx="4958080" cy="372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Admin clicks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"Mark INACTIVE"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v  PATCH /employees/:id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service.patch()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findById()  (BEFORE)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update()    (write)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audit.diff()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  { field: 'status',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    before: 'ACTIVE',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    after: 'INACTIVE' }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|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E8F5E8"/>
                </a:solidFill>
                <a:latin typeface="Consolas"/>
              </a:rPr>
              <a:t>   v  entry at top of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Quantified impact — the honest numbers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Required spec features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Listed bonus items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3 of 3 (sort+paginate, audit log, Cypress e2e)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Frontend unit specs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4 — reducer, effect, service, form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Backend Jest suites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2 — the two highest-risk services (~30 cases)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Cypress e2e flows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4 — employee, account, audit, filters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Responsive tiers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phone ≤480 → tablet → desktop → 4K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Accessibility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C1C1C"/>
                          </a:solidFill>
                          <a:latin typeface="Segoe UI"/>
                        </a:rPr>
                        <a:t>WCAG 2.1 AA on interactive surfaces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55E66"/>
                </a:solidFill>
                <a:latin typeface="Segoe UI"/>
              </a:rPr>
              <a:t>Tests concentrated where a regression silently corrupts data — not spread thin for a vanity percentage.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REFLECTION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The messy parts — what didn't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2062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1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▸ Branded EmployeeId type — reverted: ~15-file cascade for a marginal safety win. Shipped a lighter type alias.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▸ @Output('confirm') alias broke strict templates — renamed to confirmed/cancelled (style-guide form anyway).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▸ Pipe inside (click) action = silent parser error pointing at the wrong line — fixed by migrating to a signal read.</a:t>
            </a:r>
          </a:p>
          <a:p>
            <a:pPr>
              <a:spcAft>
                <a:spcPts val="1600"/>
              </a:spcAft>
            </a:pPr>
            <a:r>
              <a:rPr sz="1500" b="0" i="0">
                <a:solidFill>
                  <a:srgbClr val="1C1C1C"/>
                </a:solidFill>
                <a:latin typeface="Segoe UI"/>
              </a:rPr>
              <a:t>▸ Cypress audit specs carried state across runs — rewrote to assert on the newest entry + unique values.</a:t>
            </a:r>
          </a:p>
          <a:p>
            <a:pPr>
              <a:spcAft>
                <a:spcPts val="1600"/>
              </a:spcAft>
            </a:pPr>
            <a:r>
              <a:rPr sz="1500" b="1" i="0">
                <a:solidFill>
                  <a:srgbClr val="008A00"/>
                </a:solidFill>
                <a:latin typeface="Segoe UI"/>
              </a:rPr>
              <a:t>▸ "production-shaped", not "production-ready" — pre-built the disclaimer into the pitch.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4F00"/>
                </a:solidFill>
                <a:latin typeface="Segoe UI Semibold"/>
              </a:rPr>
              <a:t>How would you scale this 10x?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9728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Bottleneck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10x answer</a:t>
                      </a:r>
                    </a:p>
                  </a:txBody>
                  <a:tcPr anchor="ctr">
                    <a:solidFill>
                      <a:srgbClr val="008A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In-memory store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Postgres + indexes on email, (employeeId,accountId), (employeeId, ts DESC)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Audit log growth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Already append-only → event sourcing; Redis read model for per-employee query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Single process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Shared DB → stateless → horizontal scale behind a load balancer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List payload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Server-side pagination + MAX_PAGE_SIZE clamp; CDN-cache with Vary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No tracing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X-Correlation-Id already there → OpenTelemetry, near-zero app change</a:t>
                      </a:r>
                    </a:p>
                  </a:txBody>
                  <a:tcPr anchor="ctr"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First-load bundle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C1C1C"/>
                          </a:solidFill>
                          <a:latin typeface="Segoe UI"/>
                        </a:rPr>
                        <a:t>Already lazy-loaded per route; audit component ships with detail only</a:t>
                      </a:r>
                    </a:p>
                  </a:txBody>
                  <a:tcPr anchor="ctr"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008A00"/>
                </a:solidFill>
                <a:latin typeface="Segoe UI"/>
              </a:rPr>
              <a:t>A shared database unlocks stateless horizontal scaling — naming that ordering is the senior 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A00"/>
                </a:solidFill>
                <a:latin typeface="Segoe UI"/>
              </a:rPr>
              <a:t>SELF-REVIEW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0" cy="63500"/>
          </a:xfrm>
          <a:prstGeom prst="rect">
            <a:avLst/>
          </a:prstGeom>
          <a:solidFill>
            <a:srgbClr val="0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6424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 dirty="0">
                <a:solidFill>
                  <a:srgbClr val="004F00"/>
                </a:solidFill>
                <a:latin typeface="Segoe UI Semibold"/>
              </a:rPr>
              <a:t>What's missing (I wrote my own PR 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102E"/>
                </a:solidFill>
                <a:latin typeface="Segoe UI"/>
              </a:rPr>
              <a:t>CRITICAL — would block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▸ No authentication — every audit actor is 'admin'. JWT middleware unblocks everything.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▸ No direct tests on validators / controllers / middleware (covered only via Cypress).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C1C1C"/>
                </a:solidFill>
                <a:latin typeface="Segoe UI"/>
              </a:rPr>
              <a:t>▸ Validation rules duplicated client + server — risk of silent contract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45309"/>
                </a:solidFill>
                <a:latin typeface="Segoe UI"/>
              </a:rPr>
              <a:t>SHOULD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728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 dirty="0">
                <a:solidFill>
                  <a:srgbClr val="1C1C1C"/>
                </a:solidFill>
                <a:latin typeface="Segoe UI"/>
              </a:rPr>
              <a:t>▸ No CI pipeline ▸ Confirm dialog rolls its own focus management instead of @angular/cdk/dialog.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sz="900" b="0" i="0" dirty="0">
                <a:solidFill>
                  <a:srgbClr val="555E66"/>
                </a:solidFill>
                <a:latin typeface="Segoe UI"/>
              </a:rPr>
              <a:t>Banking Admin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555E66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94560"/>
            <a:ext cx="12192000" cy="63500"/>
          </a:xfrm>
          <a:prstGeom prst="rect">
            <a:avLst/>
          </a:prstGeom>
          <a:solidFill>
            <a:srgbClr val="FFC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2632</Words>
  <Application>Microsoft Office PowerPoint</Application>
  <PresentationFormat>Widescreen</PresentationFormat>
  <Paragraphs>425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Garg</cp:lastModifiedBy>
  <cp:revision>4</cp:revision>
  <dcterms:created xsi:type="dcterms:W3CDTF">2013-01-27T09:14:16Z</dcterms:created>
  <dcterms:modified xsi:type="dcterms:W3CDTF">2026-06-02T20:47:42Z</dcterms:modified>
  <cp:category/>
</cp:coreProperties>
</file>